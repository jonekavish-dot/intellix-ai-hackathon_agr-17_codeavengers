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AgriDiff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9EEF0"/>
                </a:solidFill>
                <a:latin typeface="Aptos"/>
              </a:rPr>
              <a:t>Agricultural Document Comparison &amp; Change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920240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359151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AGR-17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Don't just compare documents.
Understand what 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0515600" cy="1417320"/>
          </a:xfrm>
          <a:prstGeom prst="roundRect">
            <a:avLst/>
          </a:prstGeom>
          <a:solidFill>
            <a:srgbClr val="22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4348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F4F6"/>
                </a:solidFill>
                <a:latin typeface="Aptos"/>
              </a:rPr>
              <a:t>CODEAVENGERS  |  BIT-AI-001
Bannari Amman Institute of Technology  |  Agriculture &amp; Rural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8D0D8"/>
                </a:solidFill>
                <a:latin typeface="Aptos"/>
              </a:rPr>
              <a:t>KAVISH S R (Leader, CSE)  |  GOWSHIKGUNAL R (CSE)  |  PRANESH K V (AIDS)  |  DINESH B (AIDS)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1. Problem We Are Solving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AGR-17 asks for version-to-version agricultural document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4480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63624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5A8A"/>
                </a:solidFill>
                <a:latin typeface="Aptos"/>
              </a:rPr>
              <a:t>The practical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834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2313F"/>
                </a:solidFill>
                <a:latin typeface="Aptos"/>
              </a:defRPr>
            </a:pPr>
            <a:r>
              <a:t>• Agricultural policies, guidelines and advisories can be long and structurally complex.</a:t>
            </a:r>
          </a:p>
          <a:p>
            <a:pPr>
              <a:spcAft>
                <a:spcPts val="700"/>
              </a:spcAft>
              <a:defRPr sz="1200">
                <a:solidFill>
                  <a:srgbClr val="22313F"/>
                </a:solidFill>
                <a:latin typeface="Aptos"/>
              </a:defRPr>
            </a:pPr>
            <a:r>
              <a:t>• Important revisions may be buried among wording, formatting and reordered sections.</a:t>
            </a:r>
          </a:p>
          <a:p>
            <a:pPr>
              <a:spcAft>
                <a:spcPts val="700"/>
              </a:spcAft>
              <a:defRPr sz="1200">
                <a:solidFill>
                  <a:srgbClr val="22313F"/>
                </a:solidFill>
                <a:latin typeface="Aptos"/>
              </a:defRPr>
            </a:pPr>
            <a:r>
              <a:t>• Manual comparison consumes time and makes it difficult to prioritize what matters.</a:t>
            </a:r>
          </a:p>
          <a:p>
            <a:pPr>
              <a:spcAft>
                <a:spcPts val="700"/>
              </a:spcAft>
              <a:defRPr sz="1200">
                <a:solidFill>
                  <a:srgbClr val="22313F"/>
                </a:solidFill>
                <a:latin typeface="Aptos"/>
              </a:defRPr>
            </a:pPr>
            <a:r>
              <a:t>• A useful system must identify meaningful changes, not merely changed characters.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5A8A"/>
                </a:solidFill>
                <a:latin typeface="Aptos"/>
              </a:rPr>
              <a:t>AGR-17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572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313F"/>
                </a:solidFill>
                <a:latin typeface="Aptos"/>
              </a:rPr>
              <a:t>Compare two versions
Identify:
• Added sections
• Removed sections
• Modified conditions
• Meaningful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846320"/>
            <a:ext cx="2377440" cy="320040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87375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Outcome: change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2. Current / Conventional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Where existing solution patterns stop short of the AGR-17 goal.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2194560" cy="502920"/>
          </a:xfrm>
          <a:prstGeom prst="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0116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463040"/>
            <a:ext cx="3108960" cy="502920"/>
          </a:xfrm>
          <a:prstGeom prst="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1572768"/>
            <a:ext cx="2926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Strength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63040"/>
            <a:ext cx="5623560" cy="502920"/>
          </a:xfrm>
          <a:prstGeom prst="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572768"/>
            <a:ext cx="5440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Gap for AGR-17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219456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93976"/>
            <a:ext cx="20116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313F"/>
                </a:solidFill>
                <a:latin typeface="Aptos"/>
              </a:rPr>
              <a:t>Manual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965960"/>
            <a:ext cx="310896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2093976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Contextual judgment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965960"/>
            <a:ext cx="562356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2093976"/>
            <a:ext cx="5440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Slow, page-heavy, hard to prioritize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80360"/>
            <a:ext cx="2194560" cy="914400"/>
          </a:xfrm>
          <a:prstGeom prst="rect">
            <a:avLst/>
          </a:prstGeom>
          <a:solidFill>
            <a:srgbClr val="EEF3F6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6"/>
            <a:ext cx="20116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313F"/>
                </a:solidFill>
                <a:latin typeface="Aptos"/>
              </a:rPr>
              <a:t>Text / lexical diff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880360"/>
            <a:ext cx="3108960" cy="914400"/>
          </a:xfrm>
          <a:prstGeom prst="rect">
            <a:avLst/>
          </a:prstGeom>
          <a:solidFill>
            <a:srgbClr val="EEF3F6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3008376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Fast literal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880360"/>
            <a:ext cx="5623560" cy="914400"/>
          </a:xfrm>
          <a:prstGeom prst="rect">
            <a:avLst/>
          </a:prstGeom>
          <a:solidFill>
            <a:srgbClr val="EEF3F6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3008376"/>
            <a:ext cx="5440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Does not understand semantic equivalence or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794760"/>
            <a:ext cx="219456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922776"/>
            <a:ext cx="20116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313F"/>
                </a:solidFill>
                <a:latin typeface="Aptos"/>
              </a:rPr>
              <a:t>Generic LLM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794760"/>
            <a:ext cx="310896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3922776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Readable single-document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3794760"/>
            <a:ext cx="5623560" cy="914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9320" y="3922776"/>
            <a:ext cx="5440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Not a systematic version-to-version diff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709160"/>
            <a:ext cx="2194560" cy="914400"/>
          </a:xfrm>
          <a:prstGeom prst="rect">
            <a:avLst/>
          </a:prstGeom>
          <a:solidFill>
            <a:srgbClr val="EEF3F6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837176"/>
            <a:ext cx="20116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313F"/>
                </a:solidFill>
                <a:latin typeface="Aptos"/>
              </a:rPr>
              <a:t>Generic RAG Q&amp;A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709160"/>
            <a:ext cx="3108960" cy="914400"/>
          </a:xfrm>
          <a:prstGeom prst="rect">
            <a:avLst/>
          </a:prstGeom>
          <a:solidFill>
            <a:srgbClr val="EEF3F6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80360" y="4837176"/>
            <a:ext cx="29260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Answers questions from 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4709160"/>
            <a:ext cx="5623560" cy="914400"/>
          </a:xfrm>
          <a:prstGeom prst="rect">
            <a:avLst/>
          </a:prstGeom>
          <a:solidFill>
            <a:srgbClr val="EEF3F6"/>
          </a:solidFill>
          <a:ln w="12700"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9320" y="4837176"/>
            <a:ext cx="5440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Retrieval/QA is not the same as change detection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715000"/>
            <a:ext cx="2743200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7424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Opportunity: meaning + impact +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3. Our Solution: AgriDiff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A focused system for semantic comparison, prioritization, and evidence-grounded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166360" cy="1600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59" y="1691639"/>
            <a:ext cx="1234440" cy="320040"/>
          </a:xfrm>
          <a:prstGeom prst="roundRect">
            <a:avLst/>
          </a:prstGeom>
          <a:solidFill>
            <a:srgbClr val="1F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1.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Find added, removed and modified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1600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1691639"/>
            <a:ext cx="1234440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190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2. 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Distinguish wording changes from meaning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166360" cy="1600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59" y="3749039"/>
            <a:ext cx="1234440" cy="320040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7764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3. Prioritize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5196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Classify type and impact so important changes rise to the 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166360" cy="1600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46520" y="3749039"/>
            <a:ext cx="1234440" cy="320040"/>
          </a:xfrm>
          <a:prstGeom prst="round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77647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4. 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Show old/new source evidence for every meaningful conclusion.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4. 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A bounded pipeline: evidence enters first; AI reasons only over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Old + new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5819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0116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Page-aware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5819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Sections/chunks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4173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15819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Align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0116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Candidate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4747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Semantic diff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4747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0690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Type +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4747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690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Evidence +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3474720"/>
            <a:ext cx="2468880" cy="14173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19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5A8A"/>
                </a:solidFill>
                <a:latin typeface="Aptos"/>
              </a:rPr>
              <a:t>Present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4069080"/>
            <a:ext cx="2194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324B"/>
                </a:solidFill>
                <a:latin typeface="Aptos"/>
              </a:rPr>
              <a:t>Key design choice: lexical checks + semantic alignment + bounded LLM reasoning, not a single unrestricted prompt.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5. 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Simple enough for a one-day hackathon, modular enough to explain and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103120" cy="566928"/>
          </a:xfrm>
          <a:prstGeom prst="roundRect">
            <a:avLst/>
          </a:prstGeom>
          <a:solidFill>
            <a:srgbClr val="1F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53895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325880"/>
            <a:ext cx="265176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142646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Aptos"/>
              </a:rPr>
              <a:t>React / Next.js + Tailwind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2588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Upload, progress, dashboard, evidence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84831"/>
            <a:ext cx="2103120" cy="566928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84831"/>
            <a:ext cx="265176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2185415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84831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Comparison orchestration + JSON 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43784"/>
            <a:ext cx="2103120" cy="566928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Document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2843784"/>
            <a:ext cx="265176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294436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Aptos"/>
              </a:rPr>
              <a:t>PyMuPDF + OCR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843784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Page-aware extraction + 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02735"/>
            <a:ext cx="2103120" cy="566928"/>
          </a:xfrm>
          <a:prstGeom prst="round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1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Semantic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602735"/>
            <a:ext cx="265176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3703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Aptos"/>
              </a:rPr>
              <a:t>Embeddings + similarity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602735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Candidate alignment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61688"/>
            <a:ext cx="2103120" cy="566928"/>
          </a:xfrm>
          <a:prstGeom prst="roundRect">
            <a:avLst/>
          </a:prstGeom>
          <a:solidFill>
            <a:srgbClr val="B2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489703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Reasoning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361688"/>
            <a:ext cx="265176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63240" y="446227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Aptos"/>
              </a:rPr>
              <a:t>LLM + structured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361688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Semantic interpretation + classification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20640"/>
            <a:ext cx="2103120" cy="566928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248655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" y="5120640"/>
            <a:ext cx="265176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40" y="52212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Aptos"/>
              </a:rPr>
              <a:t>Pydantic +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12064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Evidence checks + deterministic numeric/date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6. Comparison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The technical core is a hybrid comparison strategy.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56432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456432" cy="566928"/>
          </a:xfrm>
          <a:prstGeom prst="roundRect">
            <a:avLst/>
          </a:prstGeom>
          <a:solidFill>
            <a:srgbClr val="1F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45336"/>
            <a:ext cx="32735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A. Deterministic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dates / deadlines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62072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895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percentages / thresholds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83864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presence / absence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05656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negation / condition cues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1417320"/>
            <a:ext cx="3456432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16552" y="1417320"/>
            <a:ext cx="3456432" cy="566928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1545336"/>
            <a:ext cx="32735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B. Semantic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2240280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5152" y="226771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section titles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2862072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28895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page locality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3483864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351129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embeddings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5152" y="4105656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4133088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neighborhood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1417320"/>
            <a:ext cx="3456432" cy="4206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38744" y="1417320"/>
            <a:ext cx="3456432" cy="566928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3" y="1545336"/>
            <a:ext cx="32735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C. LLM interpretation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2240280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67344" y="2267712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change type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2862072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67344" y="28895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category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67344" y="3483864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67344" y="3511296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severity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67344" y="4105656"/>
            <a:ext cx="2880360" cy="320040"/>
          </a:xfrm>
          <a:prstGeom prst="round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67344" y="4133088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8324B"/>
                </a:solidFill>
                <a:latin typeface="Aptos"/>
              </a:rPr>
              <a:t>impact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324B"/>
                </a:solidFill>
                <a:latin typeface="Aptos"/>
              </a:rPr>
              <a:t>Decision rule: use the LLM for bounded semantic judgment, not for inventing source facts.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7. What the User Actually Sees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The dashboard answers three questions: what changed, how important is it, and where is the proof?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0972800" cy="731520"/>
          </a:xfrm>
          <a:prstGeom prst="round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POLICY CHANGE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572768"/>
            <a:ext cx="1143000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60020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 meaningful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572768"/>
            <a:ext cx="868680" cy="320040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1600200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572768"/>
            <a:ext cx="868680" cy="320040"/>
          </a:xfrm>
          <a:prstGeom prst="roundRect">
            <a:avLst/>
          </a:prstGeom>
          <a:solidFill>
            <a:srgbClr val="B2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04120" y="1600200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 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77440"/>
            <a:ext cx="10972800" cy="32004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651760"/>
            <a:ext cx="1097280" cy="320040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1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6517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324B"/>
                </a:solidFill>
                <a:latin typeface="Aptos"/>
              </a:rPr>
              <a:t>Eligibility threshold modified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6B75"/>
                </a:solidFill>
                <a:latin typeface="Aptos"/>
              </a:rPr>
              <a:t>OLD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313F"/>
                </a:solidFill>
                <a:latin typeface="Aptos"/>
              </a:rPr>
              <a:t>&lt;= 2 hectares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461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67C80"/>
                </a:solidFill>
                <a:latin typeface="Aptos"/>
              </a:rP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24612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6B75"/>
                </a:solidFill>
                <a:latin typeface="Aptos"/>
              </a:rPr>
              <a:t>NEW 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5661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313F"/>
                </a:solidFill>
                <a:latin typeface="Aptos"/>
              </a:rPr>
              <a:t>&lt;= 5 hectares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154680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A8A"/>
                </a:solidFill>
                <a:latin typeface="Aptos"/>
              </a:rPr>
              <a:t>AI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93008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313F"/>
                </a:solidFill>
                <a:latin typeface="Aptos"/>
              </a:rPr>
              <a:t>The stated landholding threshold increased from 2 to 5 hectares. The revised condition may include farmers between 2 and 5 hectares.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A8A"/>
                </a:solidFill>
                <a:latin typeface="Aptos"/>
              </a:rPr>
              <a:t>SOURCE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9145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313F"/>
                </a:solidFill>
                <a:latin typeface="Aptos"/>
              </a:rPr>
              <a:t>Old: Page 4  |  New: Page 5  |  Evidence status: SUPPORTED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800600"/>
            <a:ext cx="1920240" cy="320040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482803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View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8. How We Make the System Reliable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Reliability comes from multiple controls, not from trusting the LLM by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508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371600" cy="320040"/>
          </a:xfrm>
          <a:prstGeom prst="roundRect">
            <a:avLst/>
          </a:prstGeom>
          <a:solidFill>
            <a:srgbClr val="1F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Evidence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Every meaningful result must carry old/new source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1371600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27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Malformed LLM JSON is rejected or repaired before display.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429000" cy="1508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66760" y="1600200"/>
            <a:ext cx="1371600" cy="320040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6276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Deterministic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7568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Dates, percentages and numeric thresholds receive rule-based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3429000" cy="1508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611880"/>
            <a:ext cx="1371600" cy="320040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39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Uncertainty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Low-confidence or insufficient-evidence cases are not forced into a confident answer.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0" y="3611880"/>
            <a:ext cx="1371600" cy="320040"/>
          </a:xfrm>
          <a:prstGeom prst="roundRect">
            <a:avLst/>
          </a:prstGeom>
          <a:solidFill>
            <a:srgbClr val="B2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6393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Fallback demo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8736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Prepared document pair / cached result protects the final demo from external failures.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324B"/>
                </a:solidFill>
                <a:latin typeface="Aptos"/>
              </a:rPr>
              <a:t>Reliability principle: if the system cannot prove a change from source evidence, it should say so.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9. Why Our Solution Is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The same problem, but a different product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743200" cy="109728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Manual / lexical diff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Changed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5448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D6B75"/>
                </a:solidFill>
                <a:latin typeface="Aptos"/>
              </a:rPr>
              <a:t>What moved?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6733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D6B75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2743200" cy="1097280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Generic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7180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Retrieved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97180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D6B75"/>
                </a:solidFill>
                <a:latin typeface="Aptos"/>
              </a:rPr>
              <a:t>What does the document say?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0906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D6B75"/>
                </a:solidFill>
                <a:latin typeface="Apto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51960"/>
            <a:ext cx="2743200" cy="1097280"/>
          </a:xfrm>
          <a:prstGeom prst="roundRect">
            <a:avLst/>
          </a:prstGeom>
          <a:solidFill>
            <a:srgbClr val="E8F1F5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AgriDiff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89120"/>
            <a:ext cx="2194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Aptos"/>
              </a:rPr>
              <a:t>Meaningful change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38912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67C80"/>
                </a:solidFill>
                <a:latin typeface="Aptos"/>
              </a:rPr>
              <a:t>What changed, why does it matter, and where is the proof?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806440"/>
            <a:ext cx="3657600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8338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Our core innovation: semantic + impact +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10. Innovation: Three Layers of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This is the core judging narrative.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41605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5A8A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324B"/>
                </a:solidFill>
                <a:latin typeface="Aptos"/>
              </a:rPr>
              <a:t>TEXTUAL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13F"/>
                </a:solidFill>
                <a:latin typeface="Aptos"/>
              </a:rPr>
              <a:t>Detect literal additions, removals and edits.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9260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6B75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429000" cy="41605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67C8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324B"/>
                </a:solidFill>
                <a:latin typeface="Aptos"/>
              </a:rPr>
              <a:t>SEMANTIC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13F"/>
                </a:solidFill>
                <a:latin typeface="Aptos"/>
              </a:rPr>
              <a:t>Recognize when wording changes but meaning stays the same - or vice versa.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6B75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08760"/>
            <a:ext cx="3429000" cy="41605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78308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F7D5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14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324B"/>
                </a:solidFill>
                <a:latin typeface="Apto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313F"/>
                </a:solidFill>
                <a:latin typeface="Aptos"/>
              </a:rPr>
              <a:t>Prioritize eligibility, financial, deadline and mandatory-condition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978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324B"/>
                </a:solidFill>
                <a:latin typeface="Aptos"/>
              </a:rPr>
              <a:t>Result: a judge can see not only the difference, but the meaning and the evidence trail.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11. Strongest Demo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Use a controlled document pair with several obvious, high-value revisions.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673352"/>
            <a:ext cx="1325880" cy="320040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5727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5727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2 hectares -&gt; 5 hectares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5819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Old + New evidence shown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1083564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697480"/>
            <a:ext cx="1325880" cy="320040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9689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Subsidy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9689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40% -&gt;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060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Old + New evidence shown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65576"/>
            <a:ext cx="1083564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3721608"/>
            <a:ext cx="1325880" cy="320040"/>
          </a:xfrm>
          <a:prstGeom prst="roundRect">
            <a:avLst/>
          </a:prstGeom>
          <a:solidFill>
            <a:srgbClr val="B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4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6210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Deadline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62102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30 Sep -&gt; 15 Oct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630168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Old + New evidence shown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9704"/>
            <a:ext cx="1083564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4745736"/>
            <a:ext cx="1325880" cy="320040"/>
          </a:xfrm>
          <a:prstGeom prst="roundRect">
            <a:avLst/>
          </a:prstGeom>
          <a:solidFill>
            <a:srgbClr val="B2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77316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6451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6451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313F"/>
                </a:solidFill>
                <a:latin typeface="Aptos"/>
              </a:rPr>
              <a:t>Bank passbook added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65429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Old + New evidence shown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D6B75"/>
                </a:solidFill>
                <a:latin typeface="Aptos"/>
              </a:rPr>
              <a:t>The point is not to manufacture results: the dataset must be fixed, reproducible and verified by the team.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12. Evaluation: Prove It, Don't Just Demo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Report measured values only; the SRS defines the evaluation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286000" cy="512064"/>
          </a:xfrm>
          <a:prstGeom prst="round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313F"/>
                </a:solidFill>
                <a:latin typeface="Aptos"/>
              </a:rPr>
              <a:t>How many flagged changes are truly meaningful?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2286000" cy="512064"/>
          </a:xfrm>
          <a:prstGeom prst="round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21408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313F"/>
                </a:solidFill>
                <a:latin typeface="Aptos"/>
              </a:rPr>
              <a:t>How many known meaningful changes were found?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25496"/>
            <a:ext cx="2286000" cy="512064"/>
          </a:xfrm>
          <a:prstGeom prst="roundRect">
            <a:avLst/>
          </a:prstGeom>
          <a:solidFill>
            <a:srgbClr val="1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3522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Category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71215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313F"/>
                </a:solidFill>
                <a:latin typeface="Aptos"/>
              </a:rPr>
              <a:t>Are changes placed in the right class?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75304"/>
            <a:ext cx="2286000" cy="512064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6850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Severity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21024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313F"/>
                </a:solidFill>
                <a:latin typeface="Aptos"/>
              </a:rPr>
              <a:t>Is prioritization consistent with the ground truth?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25112"/>
            <a:ext cx="2286000" cy="512064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Evidence grounding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70831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313F"/>
                </a:solidFill>
                <a:latin typeface="Aptos"/>
              </a:rPr>
              <a:t>Do displayed changes have valid source support?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2286000" cy="512064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18464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Failure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20640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2313F"/>
                </a:solidFill>
                <a:latin typeface="Aptos"/>
              </a:rPr>
              <a:t>How often does the full pipeline fail or return unusable output?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8324B"/>
                </a:solidFill>
                <a:latin typeface="Aptos"/>
              </a:rPr>
              <a:t>Small but honest evaluation is more credible than unsupported benchmark numbers.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13. Hackathon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Use familiar tools; avoid unnecessary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737360" cy="3337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512" y="1965960"/>
            <a:ext cx="1408176" cy="320040"/>
          </a:xfrm>
          <a:prstGeom prst="roundRect">
            <a:avLst/>
          </a:prstGeom>
          <a:solidFill>
            <a:srgbClr val="1F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93391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34640"/>
            <a:ext cx="140817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313F"/>
                </a:solidFill>
                <a:latin typeface="Aptos"/>
              </a:rPr>
              <a:t>React / Next.js
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1" y="1737360"/>
            <a:ext cx="1737360" cy="3337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15184" y="1965960"/>
            <a:ext cx="1408176" cy="320040"/>
          </a:xfrm>
          <a:prstGeom prst="roundRect">
            <a:avLst/>
          </a:prstGeom>
          <a:solidFill>
            <a:srgbClr val="1F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15184" y="1993391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834640"/>
            <a:ext cx="140817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313F"/>
                </a:solidFill>
                <a:latin typeface="Aptos"/>
              </a:rPr>
              <a:t>Python
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1737360" cy="3337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2855" y="1965960"/>
            <a:ext cx="1408176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1993391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834640"/>
            <a:ext cx="140817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313F"/>
                </a:solidFill>
                <a:latin typeface="Aptos"/>
              </a:rPr>
              <a:t>PyMuPDF
OCR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737360"/>
            <a:ext cx="1737360" cy="3337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10527" y="1965960"/>
            <a:ext cx="1408176" cy="320040"/>
          </a:xfrm>
          <a:prstGeom prst="round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1993391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Semantic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2834640"/>
            <a:ext cx="140817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313F"/>
                </a:solidFill>
                <a:latin typeface="Aptos"/>
              </a:rPr>
              <a:t>Embeddings
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1737360"/>
            <a:ext cx="1737360" cy="3337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58200" y="1965960"/>
            <a:ext cx="1408176" cy="320040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1993391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834640"/>
            <a:ext cx="140817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313F"/>
                </a:solidFill>
                <a:latin typeface="Aptos"/>
              </a:rPr>
              <a:t>LLM
Structured 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737360"/>
            <a:ext cx="1737360" cy="3337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05872" y="1965960"/>
            <a:ext cx="1408176" cy="320040"/>
          </a:xfrm>
          <a:prstGeom prst="roundRect">
            <a:avLst/>
          </a:prstGeom>
          <a:solidFill>
            <a:srgbClr val="2F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05872" y="1993391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2834640"/>
            <a:ext cx="140817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2313F"/>
                </a:solidFill>
                <a:latin typeface="Aptos"/>
              </a:rPr>
              <a:t>Pydantic
Rule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324B"/>
                </a:solidFill>
                <a:latin typeface="Aptos"/>
              </a:rPr>
              <a:t>Architecture principle: modular monolith + one JSON contract + deterministic fallback paths.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14. CODEAVENGERS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Clear ownership reduces integration risk during the final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KAVISH S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49047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7C80"/>
                </a:solidFill>
                <a:latin typeface="Aptos"/>
              </a:rPr>
              <a:t>Team Leader | 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435607"/>
            <a:ext cx="5852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Architecture + AI/backend + final technical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04872"/>
            <a:ext cx="1078992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56946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GOWSHIKGUNAL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946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7C80"/>
                </a:solidFill>
                <a:latin typeface="Aptos"/>
              </a:rPr>
              <a:t>Team Member | CSE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14600"/>
            <a:ext cx="5852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Frontend + interaction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83863"/>
            <a:ext cx="1078992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64845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PRANESH K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64845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7C80"/>
                </a:solidFill>
                <a:latin typeface="Aptos"/>
              </a:rPr>
              <a:t>Team Member | AIDS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593591"/>
            <a:ext cx="5852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Data + evaluation + testing + evidence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62856"/>
            <a:ext cx="10789920" cy="84124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727448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4B"/>
                </a:solidFill>
                <a:latin typeface="Aptos"/>
              </a:rPr>
              <a:t>DINESH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72744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7C80"/>
                </a:solidFill>
                <a:latin typeface="Aptos"/>
              </a:rPr>
              <a:t>Team Member | AIDS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672584"/>
            <a:ext cx="5852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Integration + deployment + PPT + demo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8324B"/>
                </a:solidFill>
                <a:latin typeface="Aptos"/>
              </a:rPr>
              <a:t>Team rule: freeze the core before adding optional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15. Hard Judge Questions - Our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Keep responses precise and evidence-based.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Isn't this just PDF diff?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29844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No. PDF diff is lexical. AgriDiff aligns sections semantically, classifies impact, and links the interpretation to source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9696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Why an LLM?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4688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Lexical rules find concrete edits; the LLM helps interpret bounded semantic changes and classify their meaning.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10128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63931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How do you prevent hallucinations?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63931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The model is constrained to supplied old/new passages, strict JSON, evidence requirements, and validation. Unsupported claims are not promoted as confirmed changes.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80560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80974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What if the LLM fails?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09744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Deterministic signals still detect high-value numeric/date/presence changes, and the fixed demo has a controlled fallback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16. MVP Scope: What We Will Actually Judge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Scope discipline is what keeps the demo alive for the full 8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MUST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29844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Upload, extraction, deterministic + semantic comparison, structured change objects, evidence-linked dashboard. Without these there is no demo.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9696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SHOULD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4688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Category + severity classification, impact-view tab, confidence/evidence-status labels. Add only once MUST HAVE is stable end-to-end.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10128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63931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NICE TO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63931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Field/entity grouped view, exportable report, polished transitions. Build only if MUST + SHOULD are frozen with time to spare.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80560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80974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DO NOT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09744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Authentication, multi-document formats, multilingual OCR, microservices, fine-tuning. Each adds failure surface without changing the judged outcome.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8324B"/>
                </a:solidFill>
                <a:latin typeface="Aptos"/>
              </a:rPr>
              <a:t>17. The 3-Minute Demo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1005840" cy="54864"/>
          </a:xfrm>
          <a:prstGeom prst="rect">
            <a:avLst/>
          </a:prstGeom>
          <a:solidFill>
            <a:srgbClr val="16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B75"/>
                </a:solidFill>
                <a:latin typeface="Aptos"/>
              </a:rPr>
              <a:t>Every second is scripted; nothing is discovered live in front of judges.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0:00 - 0:20  |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29844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“Agricultural policies change often, and the changes that matter get buried in wording.”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9696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0:20 - 0:40  | 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468880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Upload the fixed OLD and NEW policy PDFs and click Compare - the pipeline stages are visible on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10128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63931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0:40 - 2:00  |  Results +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639312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Open Impact View, walk one HIGH change (eligibility 2-&gt;5 hectares) end to end: old value, new value, category, evidence pages, confidence.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480560"/>
            <a:ext cx="10515600" cy="9144"/>
          </a:xfrm>
          <a:prstGeom prst="rect">
            <a:avLst/>
          </a:prstGeom>
          <a:solidFill>
            <a:srgbClr val="CB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80974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A8A"/>
                </a:solidFill>
                <a:latin typeface="Aptos"/>
              </a:rPr>
              <a:t>2:00 - 3:00  |  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09744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13F"/>
                </a:solidFill>
                <a:latin typeface="Aptos"/>
              </a:rPr>
              <a:t>Show the semantic + impact + evidence layers, name the reliability controls, and close on the evaluation numbers - not just the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D6B75"/>
                </a:solidFill>
                <a:latin typeface="Aptos"/>
              </a:rPr>
              <a:t>CODEAVENGERS | BIT-AI-001 | AGR-17 | AgriDiff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D6B7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Final Product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9EEF0"/>
                </a:solidFill>
                <a:latin typeface="Aptos"/>
              </a:rPr>
              <a:t>AgriDiff AI = semantic change detection + impact prioritization + evidence-grounded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515600" cy="1828800"/>
          </a:xfrm>
          <a:prstGeom prst="roundRect">
            <a:avLst/>
          </a:prstGeom>
          <a:solidFill>
            <a:srgbClr val="224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BUILD
A stable six-feature MVP that a judge can understand in one minute.
DO NOT BUILD
Anything that weakens reliability or delays the end-to-end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B8D0D8"/>
                </a:solidFill>
                <a:latin typeface="Aptos"/>
              </a:rPr>
              <a:t>CODEAVENGERS | BIT-AI-001 | AGR-17 | 15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1794</Words>
  <Application>Microsoft Office PowerPoint</Application>
  <PresentationFormat>Widescreen</PresentationFormat>
  <Paragraphs>292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KAVISH JONE (KJ)</dc:creator>
  <cp:keywords/>
  <dc:description>generated using python-pptx</dc:description>
  <cp:lastModifiedBy>Kavish Jone</cp:lastModifiedBy>
  <cp:revision>1</cp:revision>
  <dcterms:created xsi:type="dcterms:W3CDTF">2013-01-27T09:14:16Z</dcterms:created>
  <dcterms:modified xsi:type="dcterms:W3CDTF">2026-09-15T04:30:42Z</dcterms:modified>
  <cp:category/>
</cp:coreProperties>
</file>